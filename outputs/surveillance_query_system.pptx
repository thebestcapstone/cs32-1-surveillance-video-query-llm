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0"/>
            <a:ext cx="822960" cy="1645920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Video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hours of CCTV footage into instant, natural-language answers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600200" cy="27432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YOLOv8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67712" y="3383280"/>
            <a:ext cx="1600200" cy="27432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BoT-SORT + ReID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86784" y="3383280"/>
            <a:ext cx="1600200" cy="27432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86784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GPT-4o-mini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05856" y="3383280"/>
            <a:ext cx="1600200" cy="27432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05856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LangGraph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24928" y="3383280"/>
            <a:ext cx="1600200" cy="27432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SQLite-vec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1168" y="4754880"/>
            <a:ext cx="8942832" cy="3886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CS32-1  ·  COMP5703 Capstone  ·  University of Sydney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THE 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Events in CCTV Footage is Broken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15568"/>
            <a:ext cx="27432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15568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417320"/>
            <a:ext cx="1005840" cy="10058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527048"/>
            <a:ext cx="786384" cy="7863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208" y="2523744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Enormously Time-Consuming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1208" y="3035808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manually scrub through hundreds of hours of footage to locate a single event — often taking days, not minutes.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64408" y="1115568"/>
            <a:ext cx="27432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4408" y="1115568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33088" y="1417320"/>
            <a:ext cx="1005840" cy="10058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527048"/>
            <a:ext cx="786384" cy="786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74136" y="2523744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Semantic Search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74136" y="3035808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support only timestamp-based navigation. You cannot ask "when did the silver car enter the parking lot?"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17336" y="1115568"/>
            <a:ext cx="27432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17336" y="1115568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86016" y="1417320"/>
            <a:ext cx="1005840" cy="10058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1527048"/>
            <a:ext cx="786384" cy="7863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27064" y="2523744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Multi-Camera Data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27064" y="3035808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move across camera views but carry different track IDs in each feed. Cross-camera correlation currently requires expert manual work.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9436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~500hrs of CCTV recorded daily per city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383280" y="4754880"/>
            <a:ext cx="13716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38328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Manual search: 1hr footage ≈ 8hrs review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172200" y="4754880"/>
            <a:ext cx="13716" cy="1828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17220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95%+ of footage never reviewed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OUR SOLUTION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Two-Stage LLM-Powered Video Query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15568"/>
            <a:ext cx="38862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15568"/>
            <a:ext cx="64008" cy="3703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435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natural-language questions about any surveillance video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object detection, tracking &amp; event extraction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enrichment of raw motion events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vector + structured retrieval for precise answers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exact timestamps and supporting evidence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cross-identity matching (in progress)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115568"/>
            <a:ext cx="4114800" cy="16916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8016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49240" y="12618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Offline Video Pipeline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16642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→ YOLO detection → BoT-SORT+ReID tracking → motion event slicing → GPT-4o-mini LLM refinement → structured JSON events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37960" y="2871216"/>
            <a:ext cx="1828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29992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17720" y="3218688"/>
            <a:ext cx="411480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38328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49240" y="33649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Online Query Agent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754880" y="37673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→ LangGraph agent → parse intent → hybrid retrieval (vector + SQL + graph) → ranked evidence fusion → LLM answer with timestamps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STAGE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Video Understanding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743200"/>
            <a:ext cx="7863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43000"/>
            <a:ext cx="12344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143000"/>
            <a:ext cx="12344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8952" y="1627632"/>
            <a:ext cx="722376" cy="722376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09928"/>
            <a:ext cx="557784" cy="5577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24505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Video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285292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.mp4 surveillance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footage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709928" y="25146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892808" y="1143000"/>
            <a:ext cx="12344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892808" y="1143000"/>
            <a:ext cx="12344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50008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148840" y="1627632"/>
            <a:ext cx="722376" cy="722376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1709928"/>
            <a:ext cx="557784" cy="5577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938528" y="24505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Detect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938528" y="285292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(person, car, truck)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099816" y="25146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3282696" y="1143000"/>
            <a:ext cx="12344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282696" y="1143000"/>
            <a:ext cx="12344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739896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538728" y="1627632"/>
            <a:ext cx="722376" cy="722376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1709928"/>
            <a:ext cx="557784" cy="5577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328416" y="24505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BoT-SORT+ReID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3328416" y="285292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 tracking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re-identification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4489704" y="25146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4672584" y="1143000"/>
            <a:ext cx="12344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672584" y="1143000"/>
            <a:ext cx="12344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129784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4928616" y="1627632"/>
            <a:ext cx="722376" cy="722376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709928"/>
            <a:ext cx="557784" cy="55778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718304" y="24505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Slicing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718304" y="285292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Motion-window analysis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event segments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5879592" y="25146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39" name="Shape 33"/>
          <p:cNvSpPr/>
          <p:nvPr/>
        </p:nvSpPr>
        <p:spPr>
          <a:xfrm>
            <a:off x="6062472" y="1143000"/>
            <a:ext cx="1234440" cy="3246120"/>
          </a:xfrm>
          <a:prstGeom prst="rect">
            <a:avLst/>
          </a:prstGeom>
          <a:solidFill>
            <a:srgbClr val="1C2B4A"/>
          </a:solidFill>
          <a:ln w="9525">
            <a:solidFill>
              <a:srgbClr val="1C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6062472" y="1143000"/>
            <a:ext cx="12344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519672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5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6318504" y="1627632"/>
            <a:ext cx="722376" cy="722376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709928"/>
            <a:ext cx="557784" cy="55778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6108192" y="24505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Refinement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6108192" y="285292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correction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7269480" y="25146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47" name="Shape 40"/>
          <p:cNvSpPr/>
          <p:nvPr/>
        </p:nvSpPr>
        <p:spPr>
          <a:xfrm>
            <a:off x="7452360" y="1143000"/>
            <a:ext cx="12344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7452360" y="1143000"/>
            <a:ext cx="12344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90956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6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7708392" y="1627632"/>
            <a:ext cx="722376" cy="722376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0688" y="1709928"/>
            <a:ext cx="557784" cy="557784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7498080" y="24505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000" dirty="0"/>
          </a:p>
        </p:txBody>
      </p:sp>
      <p:sp>
        <p:nvSpPr>
          <p:cNvPr id="53" name="Text 45"/>
          <p:cNvSpPr/>
          <p:nvPr/>
        </p:nvSpPr>
        <p:spPr>
          <a:xfrm>
            <a:off x="7498080" y="285292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index</a:t>
            </a:r>
            <a:endParaRPr lang="en-US" sz="850" dirty="0"/>
          </a:p>
        </p:txBody>
      </p:sp>
      <p:sp>
        <p:nvSpPr>
          <p:cNvPr id="54" name="Shape 46"/>
          <p:cNvSpPr/>
          <p:nvPr/>
        </p:nvSpPr>
        <p:spPr>
          <a:xfrm>
            <a:off x="411480" y="4480560"/>
            <a:ext cx="8321040" cy="502920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548640" y="44805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IMPLEMENTED  —  Tested on VIRAT benchmark footage  |  Two refinement modes: "full" (rich metadata) and "vector" (optimised for retrieval)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STAGE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Online Query Agent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15568"/>
            <a:ext cx="3200400" cy="37490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070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Agent 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2852928" cy="475488"/>
          </a:xfrm>
          <a:prstGeom prst="rect">
            <a:avLst/>
          </a:prstGeom>
          <a:solidFill>
            <a:srgbClr val="243A5E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70078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" y="1901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question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83080" y="21396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286000"/>
            <a:ext cx="2852928" cy="475488"/>
          </a:xfrm>
          <a:prstGeom prst="rect">
            <a:avLst/>
          </a:prstGeom>
          <a:solidFill>
            <a:srgbClr val="243A5E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322576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Node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2648" y="2523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intent, time, object type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83080" y="27614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2907792"/>
            <a:ext cx="2852928" cy="475488"/>
          </a:xfrm>
          <a:prstGeom prst="rect">
            <a:avLst/>
          </a:prstGeom>
          <a:solidFill>
            <a:srgbClr val="243A5E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944368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Node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" y="31455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retrieval strategy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83080" y="3383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529584"/>
            <a:ext cx="2852928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3566160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Node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" y="3767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Multi-path search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783080" y="4005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151376"/>
            <a:ext cx="2852928" cy="475488"/>
          </a:xfrm>
          <a:prstGeom prst="rect">
            <a:avLst/>
          </a:prstGeom>
          <a:solidFill>
            <a:srgbClr val="243A5E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4187952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Node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648" y="4389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 + evidence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94760" y="1115568"/>
            <a:ext cx="493776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931920" y="12070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Multi-Path Retrieval Engine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58768" y="1801368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33088" y="1700784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33088" y="1920240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text-embedding-v3 (1024-dim) · SQLite-vec KNN · semantic similarity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58768" y="2176272"/>
            <a:ext cx="482803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58768" y="242316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33088" y="2322576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Filter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133088" y="2542032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WHERE clauses on object_type, scene_zone, time range, video_id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58768" y="2798064"/>
            <a:ext cx="482803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58768" y="3044952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33088" y="2944368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33088" y="3163824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MATCH + SQL filter combined in single query · hybrid_event_search()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58768" y="3419856"/>
            <a:ext cx="482803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58768" y="3666744"/>
            <a:ext cx="201168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33088" y="3566160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Retrieval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133088" y="3785616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&amp; entity relationship traversal across events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858768" y="4041648"/>
            <a:ext cx="482803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58768" y="4288536"/>
            <a:ext cx="201168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33088" y="4187952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/ Multi-modal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133088" y="4407408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Clip-level summaries + visual keyframe comparison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794760" y="4828032"/>
            <a:ext cx="4937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58768" y="4828032"/>
            <a:ext cx="4809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Fusion + Reranker → LLM Answer with timestamps &amp; clip evidence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NEW CAPABILITY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Identity Tracking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15568"/>
            <a:ext cx="39319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15568"/>
            <a:ext cx="64008" cy="3749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34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Cross-Camera Challenge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camera assigns its own local track IDs. The same person walking from Camera A → Camera B appears as two completely separate entities. Our system now links them.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523744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542032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 Embedder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277063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embeddings from cropped detections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309067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10896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Cross-Camera Matcher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7824" y="333756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+ spatial + appearance similarity scoring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3657600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675888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Verification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7824" y="390448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visually confirms person matches between cameras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4224528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24281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Identity Map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7824" y="447141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local_track_id → global_entity_id across all camera feeds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115568"/>
            <a:ext cx="4160520" cy="37490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12070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Cross-Camera Pipeline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81728" y="1664208"/>
            <a:ext cx="3913632" cy="393192"/>
          </a:xfrm>
          <a:prstGeom prst="rect">
            <a:avLst/>
          </a:prstGeom>
          <a:solidFill>
            <a:srgbClr val="243A5E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746504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  (track_id 1, 2, 5)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10528" y="205740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81728" y="2167128"/>
            <a:ext cx="3913632" cy="393192"/>
          </a:xfrm>
          <a:prstGeom prst="rect">
            <a:avLst/>
          </a:prstGeom>
          <a:solidFill>
            <a:srgbClr val="243A5E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249424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B  (track_id 3, 7, 9)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256032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↘  ↙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2670048"/>
            <a:ext cx="3913632" cy="393192"/>
          </a:xfrm>
          <a:prstGeom prst="rect">
            <a:avLst/>
          </a:prstGeom>
          <a:solidFill>
            <a:srgbClr val="1A4A5A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2752344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 Embedding extraction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10528" y="306324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81728" y="3172968"/>
            <a:ext cx="3913632" cy="393192"/>
          </a:xfrm>
          <a:prstGeom prst="rect">
            <a:avLst/>
          </a:prstGeom>
          <a:solidFill>
            <a:srgbClr val="0D9488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255264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+ Time Matching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10528" y="356616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81728" y="3675888"/>
            <a:ext cx="3913632" cy="393192"/>
          </a:xfrm>
          <a:prstGeom prst="rect">
            <a:avLst/>
          </a:prstGeom>
          <a:solidFill>
            <a:srgbClr val="1A4A5A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3758184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Visual Verification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10528" y="406908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81728" y="4178808"/>
            <a:ext cx="3913632" cy="393192"/>
          </a:xfrm>
          <a:prstGeom prst="rect">
            <a:avLst/>
          </a:prstGeom>
          <a:solidFill>
            <a:srgbClr val="243A5E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4261104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entity_id assigned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4828032"/>
            <a:ext cx="416052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4828032"/>
            <a:ext cx="4014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In Progress — core schema &amp; VLM verification implemented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832104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22960"/>
            <a:ext cx="2011680" cy="4133088"/>
          </a:xfrm>
          <a:prstGeom prst="rect">
            <a:avLst/>
          </a:prstGeom>
          <a:solidFill>
            <a:srgbClr val="243A5E"/>
          </a:solidFill>
          <a:ln w="9525">
            <a:solidFill>
              <a:srgbClr val="2D4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2296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932688"/>
            <a:ext cx="6400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005840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Tracking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1208" y="2084832"/>
            <a:ext cx="181051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BoT-SORT + ReID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(fallback)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frame processing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Motion-window event slicer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32888" y="822960"/>
            <a:ext cx="2011680" cy="4133088"/>
          </a:xfrm>
          <a:prstGeom prst="rect">
            <a:avLst/>
          </a:prstGeom>
          <a:solidFill>
            <a:srgbClr val="243A5E"/>
          </a:solidFill>
          <a:ln w="9525">
            <a:solidFill>
              <a:srgbClr val="2D4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32888" y="82296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18688" y="932688"/>
            <a:ext cx="6400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005840"/>
            <a:ext cx="493776" cy="4937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24328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Refinement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642616" y="2084832"/>
            <a:ext cx="181051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(multimodal)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PydanticParser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text-embedding-v3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keyframe sampling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schema output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54296" y="822960"/>
            <a:ext cx="2011680" cy="4133088"/>
          </a:xfrm>
          <a:prstGeom prst="rect">
            <a:avLst/>
          </a:prstGeom>
          <a:solidFill>
            <a:srgbClr val="243A5E"/>
          </a:solidFill>
          <a:ln w="9525">
            <a:solidFill>
              <a:srgbClr val="2D4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54296" y="82296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340096" y="932688"/>
            <a:ext cx="6400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005840"/>
            <a:ext cx="493776" cy="4937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45736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Retrieval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764024" y="2084832"/>
            <a:ext cx="181051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sqlite_vec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DashScope API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1024-dim float32 vectors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SQL + vector search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DB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775704" y="822960"/>
            <a:ext cx="2011680" cy="4133088"/>
          </a:xfrm>
          <a:prstGeom prst="rect">
            <a:avLst/>
          </a:prstGeom>
          <a:solidFill>
            <a:srgbClr val="243A5E"/>
          </a:solidFill>
          <a:ln w="9525">
            <a:solidFill>
              <a:srgbClr val="2D4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75704" y="82296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61504" y="932688"/>
            <a:ext cx="6400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005840"/>
            <a:ext cx="493776" cy="4937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67144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Orchestration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885432" y="2084832"/>
            <a:ext cx="181051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/ Route / Retrieve / Answer nodes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search, verify, playback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Multi-path evidence fusion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answer generation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CURRENT STATUS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Progress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15568"/>
            <a:ext cx="3931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15568"/>
            <a:ext cx="39319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3677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159105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object detection (n/s/m/l/x models)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97510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192938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BoT-SORT + ReID multi-object tracking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31343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" y="226771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motion-window event slicer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65176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" y="260604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aggregation → 4 event types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990088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04672" y="294436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event refinement (full + vector modes)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328416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4672" y="328269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embedding + SQLite-vec store</a:t>
            </a:r>
            <a:endParaRPr lang="en-US" sz="10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3666744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04672" y="36210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vector + SQL event retriever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4005072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804672" y="395935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schema + VLM person verifier</a:t>
            </a:r>
            <a:endParaRPr lang="en-US" sz="10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" y="4343400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804672" y="429768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tested on VIRAT footage</a:t>
            </a:r>
            <a:endParaRPr lang="en-US" sz="1000" dirty="0"/>
          </a:p>
        </p:txBody>
      </p:sp>
      <p:sp>
        <p:nvSpPr>
          <p:cNvPr id="27" name="Shape 16"/>
          <p:cNvSpPr/>
          <p:nvPr/>
        </p:nvSpPr>
        <p:spPr>
          <a:xfrm>
            <a:off x="4617720" y="1115568"/>
            <a:ext cx="411480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17"/>
          <p:cNvSpPr/>
          <p:nvPr/>
        </p:nvSpPr>
        <p:spPr>
          <a:xfrm>
            <a:off x="4617720" y="1115568"/>
            <a:ext cx="41148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18"/>
          <p:cNvSpPr/>
          <p:nvPr/>
        </p:nvSpPr>
        <p:spPr>
          <a:xfrm>
            <a:off x="4709160" y="1115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IN PROGRESS</a:t>
            </a:r>
            <a:endParaRPr lang="en-US" sz="1200" dirty="0"/>
          </a:p>
        </p:txBody>
      </p:sp>
      <p:sp>
        <p:nvSpPr>
          <p:cNvPr id="30" name="Text 19"/>
          <p:cNvSpPr/>
          <p:nvPr/>
        </p:nvSpPr>
        <p:spPr>
          <a:xfrm>
            <a:off x="4736592" y="15910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graph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4736592" y="1810512"/>
            <a:ext cx="338328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1"/>
          <p:cNvSpPr/>
          <p:nvPr/>
        </p:nvSpPr>
        <p:spPr>
          <a:xfrm>
            <a:off x="4736592" y="1810512"/>
            <a:ext cx="101498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2"/>
          <p:cNvSpPr/>
          <p:nvPr/>
        </p:nvSpPr>
        <p:spPr>
          <a:xfrm>
            <a:off x="8065008" y="1755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30%</a:t>
            </a:r>
            <a:endParaRPr lang="en-US" sz="800" dirty="0"/>
          </a:p>
        </p:txBody>
      </p:sp>
      <p:sp>
        <p:nvSpPr>
          <p:cNvPr id="34" name="Text 23"/>
          <p:cNvSpPr/>
          <p:nvPr/>
        </p:nvSpPr>
        <p:spPr>
          <a:xfrm>
            <a:off x="4736592" y="1975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state + context</a:t>
            </a:r>
            <a:endParaRPr lang="en-US" sz="1000" dirty="0"/>
          </a:p>
        </p:txBody>
      </p:sp>
      <p:sp>
        <p:nvSpPr>
          <p:cNvPr id="35" name="Shape 24"/>
          <p:cNvSpPr/>
          <p:nvPr/>
        </p:nvSpPr>
        <p:spPr>
          <a:xfrm>
            <a:off x="4736592" y="2194560"/>
            <a:ext cx="338328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4736592" y="2194560"/>
            <a:ext cx="676656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8065008" y="21396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20%</a:t>
            </a:r>
            <a:endParaRPr lang="en-US" sz="800" dirty="0"/>
          </a:p>
        </p:txBody>
      </p:sp>
      <p:sp>
        <p:nvSpPr>
          <p:cNvPr id="38" name="Text 27"/>
          <p:cNvSpPr/>
          <p:nvPr/>
        </p:nvSpPr>
        <p:spPr>
          <a:xfrm>
            <a:off x="4736592" y="23591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/ Route / Answer nodes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4736592" y="2578608"/>
            <a:ext cx="338328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4736592" y="2578608"/>
            <a:ext cx="8458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8065008" y="2523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25%</a:t>
            </a:r>
            <a:endParaRPr lang="en-US" sz="800" dirty="0"/>
          </a:p>
        </p:txBody>
      </p:sp>
      <p:sp>
        <p:nvSpPr>
          <p:cNvPr id="42" name="Text 31"/>
          <p:cNvSpPr/>
          <p:nvPr/>
        </p:nvSpPr>
        <p:spPr>
          <a:xfrm>
            <a:off x="4736592" y="27432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layer (doc builder)</a:t>
            </a:r>
            <a:endParaRPr lang="en-US" sz="1000" dirty="0"/>
          </a:p>
        </p:txBody>
      </p:sp>
      <p:sp>
        <p:nvSpPr>
          <p:cNvPr id="43" name="Shape 32"/>
          <p:cNvSpPr/>
          <p:nvPr/>
        </p:nvSpPr>
        <p:spPr>
          <a:xfrm>
            <a:off x="4736592" y="2962656"/>
            <a:ext cx="338328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4736592" y="2962656"/>
            <a:ext cx="1353312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8065008" y="2907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40%</a:t>
            </a:r>
            <a:endParaRPr lang="en-US" sz="800" dirty="0"/>
          </a:p>
        </p:txBody>
      </p:sp>
      <p:sp>
        <p:nvSpPr>
          <p:cNvPr id="46" name="Text 35"/>
          <p:cNvSpPr/>
          <p:nvPr/>
        </p:nvSpPr>
        <p:spPr>
          <a:xfrm>
            <a:off x="4736592" y="31272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retriever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4736592" y="3346704"/>
            <a:ext cx="338328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4736592" y="3346704"/>
            <a:ext cx="50749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8065008" y="3291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15%</a:t>
            </a:r>
            <a:endParaRPr lang="en-US" sz="800" dirty="0"/>
          </a:p>
        </p:txBody>
      </p:sp>
      <p:sp>
        <p:nvSpPr>
          <p:cNvPr id="50" name="Text 39"/>
          <p:cNvSpPr/>
          <p:nvPr/>
        </p:nvSpPr>
        <p:spPr>
          <a:xfrm>
            <a:off x="4736592" y="35112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retriever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4736592" y="3730752"/>
            <a:ext cx="338328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4736592" y="3730752"/>
            <a:ext cx="33832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8065008" y="3675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10%</a:t>
            </a:r>
            <a:endParaRPr lang="en-US" sz="800" dirty="0"/>
          </a:p>
        </p:txBody>
      </p:sp>
      <p:sp>
        <p:nvSpPr>
          <p:cNvPr id="54" name="Text 43"/>
          <p:cNvSpPr/>
          <p:nvPr/>
        </p:nvSpPr>
        <p:spPr>
          <a:xfrm>
            <a:off x="4736592" y="38953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Cross-camera coordinator</a:t>
            </a:r>
            <a:endParaRPr lang="en-US" sz="1000" dirty="0"/>
          </a:p>
        </p:txBody>
      </p:sp>
      <p:sp>
        <p:nvSpPr>
          <p:cNvPr id="55" name="Shape 44"/>
          <p:cNvSpPr/>
          <p:nvPr/>
        </p:nvSpPr>
        <p:spPr>
          <a:xfrm>
            <a:off x="4736592" y="4114800"/>
            <a:ext cx="338328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4736592" y="4114800"/>
            <a:ext cx="1522476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8065008" y="4059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45%</a:t>
            </a:r>
            <a:endParaRPr lang="en-US" sz="800" dirty="0"/>
          </a:p>
        </p:txBody>
      </p:sp>
      <p:sp>
        <p:nvSpPr>
          <p:cNvPr id="58" name="Text 47"/>
          <p:cNvSpPr/>
          <p:nvPr/>
        </p:nvSpPr>
        <p:spPr>
          <a:xfrm>
            <a:off x="4736592" y="42793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</a:t>
            </a:r>
            <a:endParaRPr lang="en-US" sz="1000" dirty="0"/>
          </a:p>
        </p:txBody>
      </p:sp>
      <p:sp>
        <p:nvSpPr>
          <p:cNvPr id="59" name="Shape 48"/>
          <p:cNvSpPr/>
          <p:nvPr/>
        </p:nvSpPr>
        <p:spPr>
          <a:xfrm>
            <a:off x="4736592" y="4498848"/>
            <a:ext cx="338328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4736592" y="4498848"/>
            <a:ext cx="118414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0"/>
          <p:cNvSpPr/>
          <p:nvPr/>
        </p:nvSpPr>
        <p:spPr>
          <a:xfrm>
            <a:off x="8065008" y="4443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35%</a:t>
            </a:r>
            <a:endParaRPr lang="en-US" sz="800" dirty="0"/>
          </a:p>
        </p:txBody>
      </p:sp>
      <p:sp>
        <p:nvSpPr>
          <p:cNvPr id="62" name="Shape 51"/>
          <p:cNvSpPr/>
          <p:nvPr/>
        </p:nvSpPr>
        <p:spPr>
          <a:xfrm>
            <a:off x="411480" y="4773168"/>
            <a:ext cx="83210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>
            <a:off x="411480" y="4773168"/>
            <a:ext cx="457657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53"/>
          <p:cNvSpPr/>
          <p:nvPr/>
        </p:nvSpPr>
        <p:spPr>
          <a:xfrm>
            <a:off x="502920" y="477316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Overall Project Completion   ~55%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Ask the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8321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1234440"/>
            <a:ext cx="1078992" cy="219456"/>
          </a:xfrm>
          <a:prstGeom prst="rect">
            <a:avLst/>
          </a:prstGeom>
          <a:solidFill>
            <a:srgbClr val="EFF6FF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123444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Event Localisation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0352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21615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did the silver car enter the parking lot?"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1655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63677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(entity_id 4, silver sedan) entered via the main entrance at t=12.4s. Clip: 11.6s – 15.2s.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377440"/>
            <a:ext cx="8321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37744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2468880"/>
            <a:ext cx="1078992" cy="219456"/>
          </a:xfrm>
          <a:prstGeom prst="rect">
            <a:avLst/>
          </a:prstGeom>
          <a:solidFill>
            <a:srgbClr val="EFF6FF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46888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Temporal Range Query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30352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Q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45059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all pedestrians who crossed the road between 0s and 60s."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87121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persons detected crossing: entity_id 2 (t=8.1s), entity_id 7 (t=23.6s), entity_id 11 (t=51.2s).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611880"/>
            <a:ext cx="8321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61188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3703320"/>
            <a:ext cx="1078992" cy="219456"/>
          </a:xfrm>
          <a:prstGeom prst="rect">
            <a:avLst/>
          </a:prstGeom>
          <a:solidFill>
            <a:srgbClr val="EFF6FF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370332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Structured Filter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0352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Q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68503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vehicles were parked for more than 30 seconds?"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4123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410565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vehicles: white SUV (entity_id 6, 38.4s presence), dark sedan (entity_id 9, 67.1s, static).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8463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All answers include: exact timestamps · supporting clip range · confidence score · scene zone description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76656"/>
            <a:ext cx="832104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04672"/>
            <a:ext cx="4005072" cy="457200"/>
          </a:xfrm>
          <a:prstGeom prst="rect">
            <a:avLst/>
          </a:prstGeom>
          <a:solidFill>
            <a:srgbClr val="243A5E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04672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850392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Ruiqi Ma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7784" y="104241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Reasoning &amp; Agent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4005072" cy="457200"/>
          </a:xfrm>
          <a:prstGeom prst="rect">
            <a:avLst/>
          </a:prstGeom>
          <a:solidFill>
            <a:srgbClr val="243A5E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37160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1417320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Shunyu Zhang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7784" y="160934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Documentation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1938528"/>
            <a:ext cx="4005072" cy="457200"/>
          </a:xfrm>
          <a:prstGeom prst="rect">
            <a:avLst/>
          </a:prstGeom>
          <a:solidFill>
            <a:srgbClr val="243A5E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93852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1984248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Junwen Chen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7784" y="217627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Module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505456"/>
            <a:ext cx="4005072" cy="457200"/>
          </a:xfrm>
          <a:prstGeom prst="rect">
            <a:avLst/>
          </a:prstGeom>
          <a:solidFill>
            <a:srgbClr val="243A5E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505456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" y="2551176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Chengnan Zhu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7784" y="274320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Testing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804672"/>
            <a:ext cx="4005072" cy="457200"/>
          </a:xfrm>
          <a:prstGeom prst="rect">
            <a:avLst/>
          </a:prstGeom>
          <a:solidFill>
            <a:srgbClr val="243A5E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804672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850392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Jiaxin Guo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64024" y="104241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&amp; Retrieval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1371600"/>
            <a:ext cx="4005072" cy="457200"/>
          </a:xfrm>
          <a:prstGeom prst="rect">
            <a:avLst/>
          </a:prstGeom>
          <a:solidFill>
            <a:srgbClr val="243A5E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37160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4024" y="1417320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Minqiang Yao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64024" y="160934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RAG Research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1938528"/>
            <a:ext cx="4005072" cy="457200"/>
          </a:xfrm>
          <a:prstGeom prst="rect">
            <a:avLst/>
          </a:prstGeom>
          <a:solidFill>
            <a:srgbClr val="243A5E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193852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64024" y="1984248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Quanjie Sheng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64024" y="217627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Extraction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2505456"/>
            <a:ext cx="4005072" cy="457200"/>
          </a:xfrm>
          <a:prstGeom prst="rect">
            <a:avLst/>
          </a:prstGeom>
          <a:solidFill>
            <a:srgbClr val="243A5E"/>
          </a:solidFill>
          <a:ln w="6350">
            <a:solidFill>
              <a:srgbClr val="2D4A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2505456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64024" y="2551176"/>
            <a:ext cx="3822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Xipeng Yang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64024" y="274320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3154680"/>
            <a:ext cx="8321040" cy="22860"/>
          </a:xfrm>
          <a:prstGeom prst="rect">
            <a:avLst/>
          </a:prstGeom>
          <a:solidFill>
            <a:srgbClr val="2D4A70"/>
          </a:solidFill>
          <a:ln w="12700">
            <a:solidFill>
              <a:srgbClr val="2D4A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2186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Timeline  ·  March → June 2026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3904488"/>
            <a:ext cx="8138160" cy="54864"/>
          </a:xfrm>
          <a:prstGeom prst="rect">
            <a:avLst/>
          </a:prstGeom>
          <a:solidFill>
            <a:srgbClr val="2D4A70"/>
          </a:solidFill>
          <a:ln w="12700">
            <a:solidFill>
              <a:srgbClr val="2D4A7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" y="3822192"/>
            <a:ext cx="201168" cy="201168"/>
          </a:xfrm>
          <a:prstGeom prst="oval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5478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Wk 1-4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48640" y="407822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856232" y="3822192"/>
            <a:ext cx="201168" cy="201168"/>
          </a:xfrm>
          <a:prstGeom prst="oval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00200" y="35478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Wk 5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407822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907792" y="3822192"/>
            <a:ext cx="201168" cy="201168"/>
          </a:xfrm>
          <a:prstGeom prst="oval">
            <a:avLst/>
          </a:prstGeom>
          <a:solidFill>
            <a:srgbClr val="2D4A70"/>
          </a:solidFill>
          <a:ln w="19050">
            <a:solidFill>
              <a:srgbClr val="4A6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51760" y="35478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Wk 6-7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651760" y="407822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959352" y="3822192"/>
            <a:ext cx="201168" cy="201168"/>
          </a:xfrm>
          <a:prstGeom prst="oval">
            <a:avLst/>
          </a:prstGeom>
          <a:solidFill>
            <a:srgbClr val="2D4A70"/>
          </a:solidFill>
          <a:ln w="19050">
            <a:solidFill>
              <a:srgbClr val="4A60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03320" y="35478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Wk 7-8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703320" y="407822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010912" y="3822192"/>
            <a:ext cx="201168" cy="201168"/>
          </a:xfrm>
          <a:prstGeom prst="oval">
            <a:avLst/>
          </a:prstGeom>
          <a:solidFill>
            <a:srgbClr val="2D4A70"/>
          </a:solidFill>
          <a:ln w="19050">
            <a:solidFill>
              <a:srgbClr val="4A60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5478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Wk 9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754880" y="407822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062472" y="3822192"/>
            <a:ext cx="201168" cy="201168"/>
          </a:xfrm>
          <a:prstGeom prst="oval">
            <a:avLst/>
          </a:prstGeom>
          <a:solidFill>
            <a:srgbClr val="2D4A70"/>
          </a:solidFill>
          <a:ln w="19050">
            <a:solidFill>
              <a:srgbClr val="4A60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06440" y="35478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Wk 10-11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806440" y="407822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114032" y="3822192"/>
            <a:ext cx="201168" cy="201168"/>
          </a:xfrm>
          <a:prstGeom prst="oval">
            <a:avLst/>
          </a:prstGeom>
          <a:solidFill>
            <a:srgbClr val="2D4A70"/>
          </a:solidFill>
          <a:ln w="19050">
            <a:solidFill>
              <a:srgbClr val="4A608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0" y="35478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Wk 12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858000" y="407822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165592" y="3822192"/>
            <a:ext cx="201168" cy="201168"/>
          </a:xfrm>
          <a:prstGeom prst="oval">
            <a:avLst/>
          </a:prstGeom>
          <a:solidFill>
            <a:srgbClr val="2D4A70"/>
          </a:solidFill>
          <a:ln w="19050">
            <a:solidFill>
              <a:srgbClr val="4A608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09560" y="35478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Wk 13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909560" y="407822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4389120"/>
            <a:ext cx="8942832" cy="7543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Surveillance Video Query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8138160" cy="22860"/>
          </a:xfrm>
          <a:prstGeom prst="rect">
            <a:avLst/>
          </a:prstGeom>
          <a:solidFill>
            <a:srgbClr val="2D4A70"/>
          </a:solidFill>
          <a:ln w="12700">
            <a:solidFill>
              <a:srgbClr val="2D4A7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5059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42316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video pipeline fully implemented &amp; tested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0779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88036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vector + SQL retrieval working on real VIRAT footage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6499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33756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VLM cross-identity verification in progress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22192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79476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end-to-end natural-language CCTV query system by June 2026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57200" y="44622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COMP5703 Capstone  ·  CS32-1  ·  University of Sydney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Surveillance Video Query System</dc:title>
  <dc:subject>PptxGenJS Presentation</dc:subject>
  <dc:creator>PptxGenJS</dc:creator>
  <cp:lastModifiedBy>PptxGenJS</cp:lastModifiedBy>
  <cp:revision>1</cp:revision>
  <dcterms:created xsi:type="dcterms:W3CDTF">2026-03-29T04:48:03Z</dcterms:created>
  <dcterms:modified xsi:type="dcterms:W3CDTF">2026-03-29T04:48:03Z</dcterms:modified>
</cp:coreProperties>
</file>